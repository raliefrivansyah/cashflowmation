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Fira Code" panose="020B0809050000020004" pitchFamily="49" charset="0"/>
      <p:regular r:id="rId10"/>
      <p:bold r:id="rId11"/>
    </p:embeddedFont>
    <p:embeddedFont>
      <p:font typeface="Plus Jakarta Sans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5514975"/>
            <a:ext cx="10668000" cy="733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514975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609600"/>
            <a:ext cx="2409825" cy="304800"/>
          </a:xfrm>
          <a:prstGeom prst="roundRect">
            <a:avLst>
              <a:gd name="adj" fmla="val 50000"/>
            </a:avLst>
          </a:prstGeom>
          <a:solidFill>
            <a:srgbClr val="16373F"/>
          </a:solidFill>
          <a:ln w="9525">
            <a:solidFill>
              <a:srgbClr val="154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7912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704850"/>
            <a:ext cx="114300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5924550"/>
            <a:ext cx="17145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1181100"/>
            <a:ext cx="9101137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900" b="1" i="0" u="none" dirty="0" err="1">
                <a:solidFill>
                  <a:srgbClr val="FFFFFF"/>
                </a:solidFill>
                <a:latin typeface="Plus Jakarta Sans"/>
              </a:rPr>
              <a:t>Cashflowmation</a:t>
            </a:r>
            <a:r>
              <a:rPr lang="en-US" sz="39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3900" b="1" i="0" u="none" dirty="0">
                <a:solidFill>
                  <a:srgbClr val="FFFFFF"/>
                </a:solidFill>
                <a:latin typeface="Plus Jakarta Sans"/>
              </a:rPr>
              <a:t>: Tracking </a:t>
            </a:r>
            <a:r>
              <a:rPr sz="3900" b="1" i="0" u="none" dirty="0" err="1">
                <a:solidFill>
                  <a:srgbClr val="FFFFFF"/>
                </a:solidFill>
                <a:latin typeface="Plus Jakarta Sans"/>
              </a:rPr>
              <a:t>Keuangan</a:t>
            </a:r>
            <a:r>
              <a:rPr sz="3900" b="1" i="0" u="none" dirty="0">
                <a:solidFill>
                  <a:srgbClr val="FFFFFF"/>
                </a:solidFill>
                <a:latin typeface="Plus Jakarta Sans"/>
              </a:rPr>
              <a:t> UMKM </a:t>
            </a:r>
            <a:r>
              <a:rPr sz="3900" b="1" i="0" u="none" dirty="0" err="1">
                <a:solidFill>
                  <a:srgbClr val="FFFFFF"/>
                </a:solidFill>
                <a:latin typeface="Plus Jakarta Sans"/>
              </a:rPr>
              <a:t>Otomatis</a:t>
            </a:r>
            <a:endParaRPr sz="39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000" y="2548830"/>
            <a:ext cx="7524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Sistem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pemantau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pendapatan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dan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pengeluaran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otomatis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berbasis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email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transaksi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untuk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efisiensi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operasional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solo owner UMKM.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690563"/>
            <a:ext cx="22002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u="none" dirty="0">
                <a:solidFill>
                  <a:srgbClr val="10B981"/>
                </a:solidFill>
                <a:latin typeface="Plus Jakarta Sans"/>
              </a:rPr>
              <a:t>W</a:t>
            </a:r>
            <a:r>
              <a:rPr sz="1050" b="1" i="0" u="none" dirty="0">
                <a:solidFill>
                  <a:srgbClr val="10B981"/>
                </a:solidFill>
                <a:latin typeface="Plus Jakarta Sans"/>
              </a:rPr>
              <a:t>orkflow Automation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24537"/>
            <a:ext cx="2524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Nama Peserta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995987"/>
            <a:ext cx="170617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50" b="1" i="0" u="none" dirty="0">
                <a:solidFill>
                  <a:srgbClr val="FFFFFF"/>
                </a:solidFill>
                <a:latin typeface="Plus Jakarta Sans"/>
              </a:rPr>
              <a:t>Ralief Langga </a:t>
            </a:r>
            <a:r>
              <a:rPr lang="en-US" sz="1350" b="1" i="0" u="none" dirty="0" err="1">
                <a:solidFill>
                  <a:srgbClr val="FFFFFF"/>
                </a:solidFill>
                <a:latin typeface="Plus Jakarta Sans"/>
              </a:rPr>
              <a:t>Rivansyah</a:t>
            </a:r>
            <a:endParaRPr sz="135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115550" y="5824537"/>
            <a:ext cx="13144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0" i="0" u="none">
                <a:solidFill>
                  <a:srgbClr val="64748B"/>
                </a:solidFill>
                <a:latin typeface="Plus Jakarta Sans"/>
              </a:rPr>
              <a:t>Platform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15550" y="5995987"/>
            <a:ext cx="13144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50" b="1" i="0" u="none">
                <a:solidFill>
                  <a:srgbClr val="10B981"/>
                </a:solidFill>
                <a:latin typeface="Plus Jakarta Sans"/>
              </a:rPr>
              <a:t>n8n + AI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972865"/>
            <a:ext cx="4602509" cy="3124199"/>
          </a:xfrm>
          <a:prstGeom prst="roundRect">
            <a:avLst>
              <a:gd name="adj" fmla="val 707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62650" y="1972865"/>
            <a:ext cx="5760690" cy="1000125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62650" y="3125390"/>
            <a:ext cx="5760690" cy="1000125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62650" y="4277915"/>
            <a:ext cx="5760690" cy="819150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62650" y="1972865"/>
            <a:ext cx="38100" cy="10001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62650" y="3125390"/>
            <a:ext cx="38100" cy="10001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62650" y="4277915"/>
            <a:ext cx="38100" cy="819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2201465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3353990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0763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01. Latar Belakang &amp; Masalah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90575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Mengapa Tracking Cashflow Perlu Diautomasi?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7366" y="2372915"/>
            <a:ext cx="267163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2400" b="1" i="0" u="none" dirty="0">
                <a:solidFill>
                  <a:srgbClr val="FFFFFF"/>
                </a:solidFill>
                <a:latin typeface="Plus Jakarta Sans"/>
              </a:rPr>
              <a:t>Background </a:t>
            </a:r>
            <a:r>
              <a:rPr lang="en-US" sz="2400" b="1" i="0" u="none" dirty="0" err="1">
                <a:solidFill>
                  <a:srgbClr val="FFFFFF"/>
                </a:solidFill>
                <a:latin typeface="Plus Jakarta Sans"/>
              </a:rPr>
              <a:t>Masalah</a:t>
            </a:r>
            <a:endParaRPr sz="24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3201" y="2892265"/>
            <a:ext cx="4519960" cy="1723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</a:rPr>
              <a:t>Banyak owner UMKM </a:t>
            </a:r>
            <a:r>
              <a:rPr lang="en-US" sz="1400" dirty="0" err="1">
                <a:solidFill>
                  <a:schemeClr val="bg1"/>
                </a:solidFill>
              </a:rPr>
              <a:t>skala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kecil</a:t>
            </a:r>
            <a:r>
              <a:rPr lang="en-US" sz="1400" dirty="0">
                <a:solidFill>
                  <a:schemeClr val="bg1"/>
                </a:solidFill>
              </a:rPr>
              <a:t> yang </a:t>
            </a:r>
            <a:r>
              <a:rPr lang="en-US" sz="1400" dirty="0" err="1">
                <a:solidFill>
                  <a:schemeClr val="bg1"/>
                </a:solidFill>
              </a:rPr>
              <a:t>harus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mengelola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seluruh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operasional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bisnis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seorang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diri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tanpa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bantuan</a:t>
            </a:r>
            <a:r>
              <a:rPr lang="en-US" sz="1400" dirty="0">
                <a:solidFill>
                  <a:schemeClr val="bg1"/>
                </a:solidFill>
              </a:rPr>
              <a:t> admin </a:t>
            </a:r>
            <a:r>
              <a:rPr lang="en-US" sz="1400" dirty="0" err="1">
                <a:solidFill>
                  <a:schemeClr val="bg1"/>
                </a:solidFill>
              </a:rPr>
              <a:t>keuangan</a:t>
            </a:r>
            <a:r>
              <a:rPr lang="en-US" sz="1400" dirty="0">
                <a:solidFill>
                  <a:schemeClr val="bg1"/>
                </a:solidFill>
              </a:rPr>
              <a:t>. </a:t>
            </a:r>
            <a:r>
              <a:rPr lang="en-US" sz="1400" dirty="0" err="1">
                <a:solidFill>
                  <a:schemeClr val="bg1"/>
                </a:solidFill>
              </a:rPr>
              <a:t>Akibatnya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pencatatan</a:t>
            </a:r>
            <a:r>
              <a:rPr lang="en-US" sz="1400" dirty="0">
                <a:solidFill>
                  <a:schemeClr val="bg1"/>
                </a:solidFill>
              </a:rPr>
              <a:t> invoice dan tracking </a:t>
            </a:r>
            <a:r>
              <a:rPr lang="en-US" sz="1400" dirty="0" err="1">
                <a:solidFill>
                  <a:schemeClr val="bg1"/>
                </a:solidFill>
              </a:rPr>
              <a:t>tagihan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sering</a:t>
            </a:r>
            <a:r>
              <a:rPr lang="en-US" sz="1400" dirty="0">
                <a:solidFill>
                  <a:schemeClr val="bg1"/>
                </a:solidFill>
              </a:rPr>
              <a:t> kali </a:t>
            </a:r>
            <a:r>
              <a:rPr lang="en-US" sz="1400" dirty="0" err="1">
                <a:solidFill>
                  <a:schemeClr val="bg1"/>
                </a:solidFill>
              </a:rPr>
              <a:t>masih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dilakukan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secara</a:t>
            </a:r>
            <a:r>
              <a:rPr lang="en-US" sz="1400" dirty="0">
                <a:solidFill>
                  <a:schemeClr val="bg1"/>
                </a:solidFill>
              </a:rPr>
              <a:t> manual </a:t>
            </a:r>
            <a:r>
              <a:rPr lang="en-US" sz="1400" dirty="0" err="1">
                <a:solidFill>
                  <a:schemeClr val="bg1"/>
                </a:solidFill>
              </a:rPr>
              <a:t>atau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bahkan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terlewat</a:t>
            </a:r>
            <a:r>
              <a:rPr lang="en-US" sz="1400" dirty="0">
                <a:solidFill>
                  <a:schemeClr val="bg1"/>
                </a:solidFill>
              </a:rPr>
              <a:t>, yang </a:t>
            </a:r>
            <a:r>
              <a:rPr lang="en-US" sz="1400" dirty="0" err="1">
                <a:solidFill>
                  <a:schemeClr val="bg1"/>
                </a:solidFill>
              </a:rPr>
              <a:t>berisiko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memicu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kemacetan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i="1" dirty="0">
                <a:solidFill>
                  <a:schemeClr val="bg1"/>
                </a:solidFill>
              </a:rPr>
              <a:t>cashflow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akibat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pembayaran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tertunda</a:t>
            </a:r>
            <a:r>
              <a:rPr lang="en-US" sz="1400" dirty="0">
                <a:solidFill>
                  <a:schemeClr val="bg1"/>
                </a:solidFill>
              </a:rPr>
              <a:t>. </a:t>
            </a:r>
            <a:r>
              <a:rPr lang="en-US" sz="1400" dirty="0" err="1">
                <a:solidFill>
                  <a:schemeClr val="bg1"/>
                </a:solidFill>
              </a:rPr>
              <a:t>Tanpa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sistem</a:t>
            </a:r>
            <a:r>
              <a:rPr lang="en-US" sz="1400" dirty="0">
                <a:solidFill>
                  <a:schemeClr val="bg1"/>
                </a:solidFill>
              </a:rPr>
              <a:t> yang </a:t>
            </a:r>
            <a:r>
              <a:rPr lang="en-US" sz="1400" dirty="0" err="1">
                <a:solidFill>
                  <a:schemeClr val="bg1"/>
                </a:solidFill>
              </a:rPr>
              <a:t>terintegrasi</a:t>
            </a:r>
            <a:r>
              <a:rPr lang="en-US" sz="1400" dirty="0">
                <a:solidFill>
                  <a:schemeClr val="bg1"/>
                </a:solidFill>
              </a:rPr>
              <a:t>, owner </a:t>
            </a:r>
            <a:r>
              <a:rPr lang="en-US" sz="1400" dirty="0" err="1">
                <a:solidFill>
                  <a:schemeClr val="bg1"/>
                </a:solidFill>
              </a:rPr>
              <a:t>kehilangan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visibilitas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terhadap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posisi</a:t>
            </a:r>
            <a:r>
              <a:rPr lang="en-US" sz="1400" dirty="0">
                <a:solidFill>
                  <a:schemeClr val="bg1"/>
                </a:solidFill>
              </a:rPr>
              <a:t> kas </a:t>
            </a:r>
            <a:r>
              <a:rPr lang="en-US" sz="1400" i="1" dirty="0">
                <a:solidFill>
                  <a:schemeClr val="bg1"/>
                </a:solidFill>
              </a:rPr>
              <a:t>real-time</a:t>
            </a:r>
            <a:r>
              <a:rPr lang="en-US" sz="1400" dirty="0">
                <a:solidFill>
                  <a:schemeClr val="bg1"/>
                </a:solidFill>
              </a:rPr>
              <a:t> dan </a:t>
            </a:r>
            <a:r>
              <a:rPr lang="en-US" sz="1400" dirty="0" err="1">
                <a:solidFill>
                  <a:schemeClr val="bg1"/>
                </a:solidFill>
              </a:rPr>
              <a:t>menghabiskan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waktu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produktif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hanya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untuk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rekap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keuangan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  <a:endParaRPr sz="1400" b="0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29350" y="2163365"/>
            <a:ext cx="2148858" cy="207749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lang="en-US" sz="1350" b="1" dirty="0">
                <a:solidFill>
                  <a:srgbClr val="0F172A"/>
                </a:solidFill>
                <a:latin typeface="Plus Jakarta Sans"/>
              </a:rPr>
              <a:t>Hemat </a:t>
            </a:r>
            <a:r>
              <a:rPr lang="en-US" sz="1350" b="1" dirty="0" err="1">
                <a:solidFill>
                  <a:srgbClr val="0F172A"/>
                </a:solidFill>
                <a:latin typeface="Plus Jakarta Sans"/>
              </a:rPr>
              <a:t>waktu</a:t>
            </a:r>
            <a:r>
              <a:rPr lang="en-US" sz="1350" b="1" dirty="0">
                <a:solidFill>
                  <a:srgbClr val="0F172A"/>
                </a:solidFill>
                <a:latin typeface="Plus Jakarta Sans"/>
              </a:rPr>
              <a:t> dan </a:t>
            </a:r>
            <a:r>
              <a:rPr lang="en-US" sz="1350" b="1" dirty="0" err="1">
                <a:solidFill>
                  <a:srgbClr val="0F172A"/>
                </a:solidFill>
                <a:latin typeface="Plus Jakarta Sans"/>
              </a:rPr>
              <a:t>efisiensi</a:t>
            </a:r>
            <a:endParaRPr sz="13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77000" y="2420540"/>
            <a:ext cx="511299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Solo owner </a:t>
            </a:r>
            <a:r>
              <a:rPr lang="en-US" sz="1125" b="0" i="0" u="none" dirty="0" err="1">
                <a:solidFill>
                  <a:srgbClr val="475569"/>
                </a:solidFill>
                <a:latin typeface="Plus Jakarta Sans"/>
              </a:rPr>
              <a:t>dapat</a:t>
            </a:r>
            <a:r>
              <a:rPr lang="en-US"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US" sz="1125" b="0" i="0" u="none" dirty="0" err="1">
                <a:solidFill>
                  <a:srgbClr val="475569"/>
                </a:solidFill>
                <a:latin typeface="Plus Jakarta Sans"/>
              </a:rPr>
              <a:t>menyingkat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waktu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untuk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input nota </a:t>
            </a:r>
            <a:r>
              <a:rPr lang="en-US" sz="1125" b="0" i="0" u="none" dirty="0" err="1">
                <a:solidFill>
                  <a:srgbClr val="475569"/>
                </a:solidFill>
                <a:latin typeface="Plus Jakarta Sans"/>
              </a:rPr>
              <a:t>daripada</a:t>
            </a:r>
            <a:r>
              <a:rPr lang="en-US"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US" sz="1125" b="0" i="0" u="none" dirty="0" err="1">
                <a:solidFill>
                  <a:srgbClr val="475569"/>
                </a:solidFill>
                <a:latin typeface="Plus Jakarta Sans"/>
              </a:rPr>
              <a:t>menginput</a:t>
            </a:r>
            <a:r>
              <a:rPr lang="en-US"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US" sz="1125" b="0" i="0" u="none" dirty="0" err="1">
                <a:solidFill>
                  <a:srgbClr val="475569"/>
                </a:solidFill>
                <a:latin typeface="Plus Jakarta Sans"/>
              </a:rPr>
              <a:t>transaksi</a:t>
            </a:r>
            <a:r>
              <a:rPr lang="en-US"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satu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per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satu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Plus Jakarta Sans"/>
              </a:rPr>
              <a:t>ke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spreadsheet.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9350" y="3315890"/>
            <a:ext cx="1544012" cy="207749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lang="en-US" sz="1350" b="1" i="0" u="none" dirty="0">
                <a:solidFill>
                  <a:srgbClr val="0F172A"/>
                </a:solidFill>
                <a:latin typeface="Plus Jakarta Sans"/>
              </a:rPr>
              <a:t>Data </a:t>
            </a:r>
            <a:r>
              <a:rPr lang="en-US" sz="1350" b="1" i="0" u="none" dirty="0" err="1">
                <a:solidFill>
                  <a:srgbClr val="0F172A"/>
                </a:solidFill>
                <a:latin typeface="Plus Jakarta Sans"/>
              </a:rPr>
              <a:t>terorganisasi</a:t>
            </a:r>
            <a:endParaRPr sz="13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77000" y="3573065"/>
            <a:ext cx="511299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25" dirty="0">
                <a:solidFill>
                  <a:srgbClr val="475569"/>
                </a:solidFill>
                <a:latin typeface="Plus Jakarta Sans"/>
              </a:rPr>
              <a:t>Data </a:t>
            </a:r>
            <a:r>
              <a:rPr lang="en-US" sz="1125" dirty="0" err="1">
                <a:solidFill>
                  <a:srgbClr val="475569"/>
                </a:solidFill>
                <a:latin typeface="Plus Jakarta Sans"/>
              </a:rPr>
              <a:t>transaksi</a:t>
            </a:r>
            <a:r>
              <a:rPr lang="en-US" sz="1125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US" sz="1125" dirty="0" err="1">
                <a:solidFill>
                  <a:srgbClr val="475569"/>
                </a:solidFill>
                <a:latin typeface="Plus Jakarta Sans"/>
              </a:rPr>
              <a:t>dari</a:t>
            </a:r>
            <a:r>
              <a:rPr lang="en-US" sz="1125" dirty="0">
                <a:solidFill>
                  <a:srgbClr val="475569"/>
                </a:solidFill>
                <a:latin typeface="Plus Jakarta Sans"/>
              </a:rPr>
              <a:t> e-mail </a:t>
            </a:r>
            <a:r>
              <a:rPr lang="en-US" sz="1125" dirty="0" err="1">
                <a:solidFill>
                  <a:srgbClr val="475569"/>
                </a:solidFill>
                <a:latin typeface="Plus Jakarta Sans"/>
              </a:rPr>
              <a:t>atau</a:t>
            </a:r>
            <a:r>
              <a:rPr lang="en-US" sz="1125" dirty="0">
                <a:solidFill>
                  <a:srgbClr val="475569"/>
                </a:solidFill>
                <a:latin typeface="Plus Jakarta Sans"/>
              </a:rPr>
              <a:t> nota </a:t>
            </a:r>
            <a:r>
              <a:rPr lang="en-US" sz="1125" dirty="0" err="1">
                <a:solidFill>
                  <a:srgbClr val="475569"/>
                </a:solidFill>
                <a:latin typeface="Plus Jakarta Sans"/>
              </a:rPr>
              <a:t>otomatis</a:t>
            </a:r>
            <a:r>
              <a:rPr lang="en-US" sz="1125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US" sz="1125" dirty="0" err="1">
                <a:solidFill>
                  <a:srgbClr val="475569"/>
                </a:solidFill>
                <a:latin typeface="Plus Jakarta Sans"/>
              </a:rPr>
              <a:t>terstruktur</a:t>
            </a:r>
            <a:r>
              <a:rPr lang="en-US" sz="1125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US" sz="1125" dirty="0" err="1">
                <a:solidFill>
                  <a:srgbClr val="475569"/>
                </a:solidFill>
                <a:latin typeface="Plus Jakarta Sans"/>
              </a:rPr>
              <a:t>rapi</a:t>
            </a:r>
            <a:r>
              <a:rPr lang="en-US" sz="1125" dirty="0">
                <a:solidFill>
                  <a:srgbClr val="475569"/>
                </a:solidFill>
                <a:latin typeface="Plus Jakarta Sans"/>
              </a:rPr>
              <a:t> di Google Sheets, </a:t>
            </a:r>
            <a:r>
              <a:rPr lang="en-US" sz="1125" dirty="0" err="1">
                <a:solidFill>
                  <a:srgbClr val="475569"/>
                </a:solidFill>
                <a:latin typeface="Plus Jakarta Sans"/>
              </a:rPr>
              <a:t>memudahkan</a:t>
            </a:r>
            <a:r>
              <a:rPr lang="en-US" sz="1125" dirty="0">
                <a:solidFill>
                  <a:srgbClr val="475569"/>
                </a:solidFill>
                <a:latin typeface="Plus Jakarta Sans"/>
              </a:rPr>
              <a:t> owner </a:t>
            </a:r>
            <a:r>
              <a:rPr lang="en-US" sz="1125" dirty="0" err="1">
                <a:solidFill>
                  <a:srgbClr val="475569"/>
                </a:solidFill>
                <a:latin typeface="Plus Jakarta Sans"/>
              </a:rPr>
              <a:t>saat</a:t>
            </a:r>
            <a:r>
              <a:rPr lang="en-US" sz="1125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US" sz="1125" dirty="0" err="1">
                <a:solidFill>
                  <a:srgbClr val="475569"/>
                </a:solidFill>
                <a:latin typeface="Plus Jakarta Sans"/>
              </a:rPr>
              <a:t>mau</a:t>
            </a:r>
            <a:r>
              <a:rPr lang="en-US" sz="1125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US" sz="1125" dirty="0" err="1">
                <a:solidFill>
                  <a:srgbClr val="475569"/>
                </a:solidFill>
                <a:latin typeface="Plus Jakarta Sans"/>
              </a:rPr>
              <a:t>evaluasi</a:t>
            </a:r>
            <a:r>
              <a:rPr lang="en-US" sz="1125" dirty="0">
                <a:solidFill>
                  <a:srgbClr val="475569"/>
                </a:solidFill>
                <a:latin typeface="Plus Jakarta Sans"/>
              </a:rPr>
              <a:t> profit/</a:t>
            </a:r>
            <a:r>
              <a:rPr lang="en-US" sz="1125" dirty="0" err="1">
                <a:solidFill>
                  <a:srgbClr val="475569"/>
                </a:solidFill>
                <a:latin typeface="Plus Jakarta Sans"/>
              </a:rPr>
              <a:t>rugi</a:t>
            </a:r>
            <a:r>
              <a:rPr lang="en-US" sz="1125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US" sz="1125" dirty="0" err="1">
                <a:solidFill>
                  <a:srgbClr val="475569"/>
                </a:solidFill>
                <a:latin typeface="Plus Jakarta Sans"/>
              </a:rPr>
              <a:t>bisnis</a:t>
            </a:r>
            <a:r>
              <a:rPr lang="en-US" sz="1125" dirty="0">
                <a:solidFill>
                  <a:srgbClr val="475569"/>
                </a:solidFill>
                <a:latin typeface="Plus Jakarta Sans"/>
              </a:rPr>
              <a:t>.</a:t>
            </a:r>
            <a:endParaRPr sz="1125" b="0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29350" y="4468415"/>
            <a:ext cx="1447063" cy="207749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lang="en-US" sz="1350" b="1" i="0" u="none" dirty="0">
                <a:solidFill>
                  <a:srgbClr val="0F172A"/>
                </a:solidFill>
                <a:latin typeface="Plus Jakarta Sans"/>
              </a:rPr>
              <a:t>Real-time &amp; Akurat</a:t>
            </a:r>
            <a:endParaRPr sz="13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15075" y="4725590"/>
            <a:ext cx="5111977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125" b="0" i="0" u="none" dirty="0">
                <a:solidFill>
                  <a:srgbClr val="475569"/>
                </a:solidFill>
                <a:latin typeface="Plus Jakarta Sans"/>
              </a:rPr>
              <a:t>Status </a:t>
            </a:r>
            <a:r>
              <a:rPr lang="en-US" sz="1125" b="0" i="0" u="none" dirty="0" err="1">
                <a:solidFill>
                  <a:srgbClr val="475569"/>
                </a:solidFill>
                <a:latin typeface="Plus Jakarta Sans"/>
              </a:rPr>
              <a:t>pembayaran</a:t>
            </a:r>
            <a:r>
              <a:rPr lang="en-US"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US" sz="1125" b="0" i="0" u="none" dirty="0" err="1">
                <a:solidFill>
                  <a:srgbClr val="475569"/>
                </a:solidFill>
                <a:latin typeface="Plus Jakarta Sans"/>
              </a:rPr>
              <a:t>langsung</a:t>
            </a:r>
            <a:r>
              <a:rPr lang="en-US" sz="1125" b="0" i="0" u="none" dirty="0">
                <a:solidFill>
                  <a:srgbClr val="475569"/>
                </a:solidFill>
                <a:latin typeface="Plus Jakarta Sans"/>
              </a:rPr>
              <a:t> ter-update </a:t>
            </a:r>
            <a:r>
              <a:rPr lang="en-US" sz="1125" b="0" i="0" u="none" dirty="0" err="1">
                <a:solidFill>
                  <a:srgbClr val="475569"/>
                </a:solidFill>
                <a:latin typeface="Plus Jakarta Sans"/>
              </a:rPr>
              <a:t>otomatis</a:t>
            </a:r>
            <a:r>
              <a:rPr lang="en-US"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US" sz="1125" b="0" i="0" u="none" dirty="0" err="1">
                <a:solidFill>
                  <a:srgbClr val="475569"/>
                </a:solidFill>
                <a:latin typeface="Plus Jakarta Sans"/>
              </a:rPr>
              <a:t>saat</a:t>
            </a:r>
            <a:r>
              <a:rPr lang="en-US"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US" sz="1125" b="0" i="0" u="none" dirty="0" err="1">
                <a:solidFill>
                  <a:srgbClr val="475569"/>
                </a:solidFill>
                <a:latin typeface="Plus Jakarta Sans"/>
              </a:rPr>
              <a:t>ada</a:t>
            </a:r>
            <a:r>
              <a:rPr lang="en-US"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US" sz="1125" b="0" i="0" u="none" dirty="0" err="1">
                <a:solidFill>
                  <a:srgbClr val="475569"/>
                </a:solidFill>
                <a:latin typeface="Plus Jakarta Sans"/>
              </a:rPr>
              <a:t>transaksi</a:t>
            </a:r>
            <a:r>
              <a:rPr lang="en-US"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US" sz="1125" b="0" i="0" u="none" dirty="0" err="1">
                <a:solidFill>
                  <a:srgbClr val="475569"/>
                </a:solidFill>
                <a:latin typeface="Plus Jakarta Sans"/>
              </a:rPr>
              <a:t>masuk</a:t>
            </a:r>
            <a:r>
              <a:rPr lang="en-US"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US" sz="1125" b="0" i="0" u="none" dirty="0" err="1">
                <a:solidFill>
                  <a:srgbClr val="475569"/>
                </a:solidFill>
                <a:latin typeface="Plus Jakarta Sans"/>
              </a:rPr>
              <a:t>atau</a:t>
            </a:r>
            <a:r>
              <a:rPr lang="en-US" sz="112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n-US" sz="1125" b="0" i="0" u="none" dirty="0" err="1">
                <a:solidFill>
                  <a:srgbClr val="475569"/>
                </a:solidFill>
                <a:latin typeface="Plus Jakarta Sans"/>
              </a:rPr>
              <a:t>keluar</a:t>
            </a:r>
            <a:r>
              <a:rPr lang="en-US" sz="1125" b="0" i="0" u="none" dirty="0">
                <a:solidFill>
                  <a:srgbClr val="475569"/>
                </a:solidFill>
                <a:latin typeface="Plus Jakarta Sans"/>
              </a:rPr>
              <a:t>.</a:t>
            </a:r>
            <a:endParaRPr sz="1125" b="0" i="0" u="none" dirty="0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001416"/>
            <a:ext cx="2345531" cy="1845766"/>
          </a:xfrm>
          <a:prstGeom prst="roundRect">
            <a:avLst>
              <a:gd name="adj" fmla="val 61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536156" y="2908101"/>
            <a:ext cx="2345531" cy="2032396"/>
          </a:xfrm>
          <a:prstGeom prst="roundRect">
            <a:avLst>
              <a:gd name="adj" fmla="val 56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10312" y="3001416"/>
            <a:ext cx="2345531" cy="1845766"/>
          </a:xfrm>
          <a:prstGeom prst="roundRect">
            <a:avLst>
              <a:gd name="adj" fmla="val 61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84468" y="3001416"/>
            <a:ext cx="2345531" cy="1845766"/>
          </a:xfrm>
          <a:prstGeom prst="roundRect">
            <a:avLst>
              <a:gd name="adj" fmla="val 61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2025" y="3239541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36181" y="3146226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10337" y="3239541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84493" y="3239541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931" y="3843337"/>
            <a:ext cx="1238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87" y="3843337"/>
            <a:ext cx="1238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243" y="3843337"/>
            <a:ext cx="12382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33400"/>
            <a:ext cx="10763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02. Workflow &amp; Reasoning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790575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Alur Kerja Sistem n8n Step-by-Step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3326166"/>
            <a:ext cx="66675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734841"/>
            <a:ext cx="25534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Gmail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4049166"/>
            <a:ext cx="2040731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Mendeteksi email masuk dengan filter kata kunci invoice, bukti transfer, atau nota.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306" y="3232851"/>
            <a:ext cx="66675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6181" y="3641526"/>
            <a:ext cx="25534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AI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6181" y="3955851"/>
            <a:ext cx="2040731" cy="564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0" i="0" u="none" dirty="0">
                <a:solidFill>
                  <a:srgbClr val="64748B"/>
                </a:solidFill>
                <a:latin typeface="Plus Jakarta Sans"/>
              </a:rPr>
              <a:t>Gemini AI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memproses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isi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email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untuk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mengekstrak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nominal,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tanggal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, dan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kategori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data JSON.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7462" y="3326166"/>
            <a:ext cx="66675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Plus Jakarta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337" y="3734841"/>
            <a:ext cx="25534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Spreadsheet 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337" y="4049166"/>
            <a:ext cx="2040731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Menyimpan baris transaksi baru secara otomatis ke database Google Sheets.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1618" y="3326166"/>
            <a:ext cx="66675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Plus Jakarta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4493" y="3734841"/>
            <a:ext cx="25534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Telegram Alert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4493" y="4049166"/>
            <a:ext cx="2040731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Mengirimkan ringkasan pesan konfirmasi cashflow langsung ke HP solo owner.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95587"/>
            <a:ext cx="2495550" cy="225742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86150" y="2795587"/>
            <a:ext cx="2495550" cy="225742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795587"/>
            <a:ext cx="2495550" cy="225742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34450" y="2795587"/>
            <a:ext cx="2495550" cy="225742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07181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307181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3071812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575" y="3071812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662" y="3195637"/>
            <a:ext cx="23812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8100" y="3195637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0" y="3195637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6400" y="3195637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533400"/>
            <a:ext cx="10763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03. Technology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790575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Pemilihan Tools &amp; Perannya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3681412"/>
            <a:ext cx="26503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n8n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3976687"/>
            <a:ext cx="21145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Orchestrator utama workflow. Mengatur pemicu email, eksekusi AI, serta integrasi API secara stabil.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4275" y="3681412"/>
            <a:ext cx="121187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50" b="1" i="0" u="none" dirty="0">
                <a:solidFill>
                  <a:srgbClr val="0F172A"/>
                </a:solidFill>
                <a:latin typeface="Plus Jakarta Sans"/>
              </a:rPr>
              <a:t>Gemini AI</a:t>
            </a:r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4275" y="3976687"/>
            <a:ext cx="21145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Model LLM hemat biaya untuk mengekstraksi teks acak email menjadi struktur data JSON teratur.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3681412"/>
            <a:ext cx="26503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Google Sheets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3976687"/>
            <a:ext cx="21145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Database ledger sederhana yang mudah diakses dan dikelola oleh owner kapan saja tanpa biaya tambahan.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2575" y="3681412"/>
            <a:ext cx="26503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Telegram 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2575" y="3976687"/>
            <a:ext cx="21145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Kanal notifikasi instan untuk mengonfirmasi bahwa transaksi telah berhasil masuk ke pencatatan.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749439"/>
            <a:ext cx="6400800" cy="4575161"/>
          </a:xfrm>
          <a:prstGeom prst="roundRect">
            <a:avLst>
              <a:gd name="adj" fmla="val 360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467600" y="2281237"/>
            <a:ext cx="3962400" cy="981075"/>
          </a:xfrm>
          <a:prstGeom prst="roundRect">
            <a:avLst>
              <a:gd name="adj" fmla="val 77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467600" y="3414712"/>
            <a:ext cx="3962400" cy="981075"/>
          </a:xfrm>
          <a:prstGeom prst="roundRect">
            <a:avLst>
              <a:gd name="adj" fmla="val 77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67600" y="4548187"/>
            <a:ext cx="3962400" cy="981075"/>
          </a:xfrm>
          <a:prstGeom prst="roundRect">
            <a:avLst>
              <a:gd name="adj" fmla="val 77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0763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04. AI Prompt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90575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Struktur Prompt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091532"/>
            <a:ext cx="591312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050" dirty="0">
                <a:solidFill>
                  <a:srgbClr val="38BDF8"/>
                </a:solidFill>
                <a:latin typeface="Fira Code"/>
              </a:rPr>
              <a:t>Kamu </a:t>
            </a:r>
            <a:r>
              <a:rPr lang="en-US" sz="1050" dirty="0" err="1">
                <a:solidFill>
                  <a:srgbClr val="38BDF8"/>
                </a:solidFill>
                <a:latin typeface="Fira Code"/>
              </a:rPr>
              <a:t>adalah</a:t>
            </a:r>
            <a:r>
              <a:rPr lang="en-US" sz="1050" dirty="0">
                <a:solidFill>
                  <a:srgbClr val="38BDF8"/>
                </a:solidFill>
                <a:latin typeface="Fira Code"/>
              </a:rPr>
              <a:t> </a:t>
            </a:r>
            <a:r>
              <a:rPr lang="en-US" sz="1050" dirty="0" err="1">
                <a:solidFill>
                  <a:srgbClr val="38BDF8"/>
                </a:solidFill>
                <a:latin typeface="Fira Code"/>
              </a:rPr>
              <a:t>asisten</a:t>
            </a:r>
            <a:r>
              <a:rPr lang="en-US" sz="1050" dirty="0">
                <a:solidFill>
                  <a:srgbClr val="38BDF8"/>
                </a:solidFill>
                <a:latin typeface="Fira Code"/>
              </a:rPr>
              <a:t> </a:t>
            </a:r>
            <a:r>
              <a:rPr lang="en-US" sz="1050" dirty="0" err="1">
                <a:solidFill>
                  <a:srgbClr val="38BDF8"/>
                </a:solidFill>
                <a:latin typeface="Fira Code"/>
              </a:rPr>
              <a:t>ekstraksi</a:t>
            </a:r>
            <a:r>
              <a:rPr lang="en-US" sz="1050" dirty="0">
                <a:solidFill>
                  <a:srgbClr val="38BDF8"/>
                </a:solidFill>
                <a:latin typeface="Fira Code"/>
              </a:rPr>
              <a:t> data </a:t>
            </a:r>
            <a:r>
              <a:rPr lang="en-US" sz="1050" dirty="0" err="1">
                <a:solidFill>
                  <a:srgbClr val="38BDF8"/>
                </a:solidFill>
                <a:latin typeface="Fira Code"/>
              </a:rPr>
              <a:t>keuangan</a:t>
            </a:r>
            <a:r>
              <a:rPr lang="en-US" sz="1050" dirty="0">
                <a:solidFill>
                  <a:srgbClr val="38BDF8"/>
                </a:solidFill>
                <a:latin typeface="Fira Code"/>
              </a:rPr>
              <a:t> </a:t>
            </a:r>
            <a:r>
              <a:rPr lang="en-US" sz="1050" dirty="0" err="1">
                <a:solidFill>
                  <a:srgbClr val="38BDF8"/>
                </a:solidFill>
                <a:latin typeface="Fira Code"/>
              </a:rPr>
              <a:t>untuk</a:t>
            </a:r>
            <a:r>
              <a:rPr lang="en-US" sz="1050" dirty="0">
                <a:solidFill>
                  <a:srgbClr val="38BDF8"/>
                </a:solidFill>
                <a:latin typeface="Fira Code"/>
              </a:rPr>
              <a:t> </a:t>
            </a:r>
            <a:r>
              <a:rPr lang="en-US" sz="1050" dirty="0" err="1">
                <a:solidFill>
                  <a:srgbClr val="38BDF8"/>
                </a:solidFill>
                <a:latin typeface="Fira Code"/>
              </a:rPr>
              <a:t>sistem</a:t>
            </a:r>
            <a:r>
              <a:rPr lang="en-US" sz="1050" dirty="0">
                <a:solidFill>
                  <a:srgbClr val="38BDF8"/>
                </a:solidFill>
                <a:latin typeface="Fira Code"/>
              </a:rPr>
              <a:t> </a:t>
            </a:r>
            <a:r>
              <a:rPr lang="en-US" sz="1050" dirty="0" err="1">
                <a:solidFill>
                  <a:srgbClr val="38BDF8"/>
                </a:solidFill>
                <a:latin typeface="Fira Code"/>
              </a:rPr>
              <a:t>akuntansi</a:t>
            </a:r>
            <a:r>
              <a:rPr lang="en-US" sz="1050" dirty="0">
                <a:solidFill>
                  <a:srgbClr val="38BDF8"/>
                </a:solidFill>
                <a:latin typeface="Fira Code"/>
              </a:rPr>
              <a:t> UMKM </a:t>
            </a:r>
            <a:r>
              <a:rPr lang="en-US" sz="1050" dirty="0" err="1">
                <a:solidFill>
                  <a:srgbClr val="38BDF8"/>
                </a:solidFill>
                <a:latin typeface="Fira Code"/>
              </a:rPr>
              <a:t>penjualan</a:t>
            </a:r>
            <a:r>
              <a:rPr lang="en-US" sz="1050" dirty="0">
                <a:solidFill>
                  <a:srgbClr val="38BDF8"/>
                </a:solidFill>
                <a:latin typeface="Fira Code"/>
              </a:rPr>
              <a:t> </a:t>
            </a:r>
            <a:r>
              <a:rPr lang="en-US" sz="1050" dirty="0" err="1">
                <a:solidFill>
                  <a:srgbClr val="38BDF8"/>
                </a:solidFill>
                <a:latin typeface="Fira Code"/>
              </a:rPr>
              <a:t>sepatu</a:t>
            </a:r>
            <a:r>
              <a:rPr lang="en-US" sz="1050" dirty="0">
                <a:solidFill>
                  <a:srgbClr val="38BDF8"/>
                </a:solidFill>
                <a:latin typeface="Fira Code"/>
              </a:rPr>
              <a:t>.</a:t>
            </a:r>
            <a:endParaRPr sz="1050" b="0" i="0" u="none" dirty="0">
              <a:solidFill>
                <a:srgbClr val="38BDF8"/>
              </a:solidFill>
              <a:latin typeface="Fira Code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0600" y="2730731"/>
            <a:ext cx="5913120" cy="6391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nn-NO" sz="1050" dirty="0">
                <a:solidFill>
                  <a:srgbClr val="F1F5F9"/>
                </a:solidFill>
                <a:latin typeface="Fira Code"/>
              </a:rPr>
              <a:t>Tugas utama kamu adalah menganalisis teks e-mail yang masuk, lalu mengekstraksi informasi penting terkait transaksi keuangan ke dalam format JSON tunggal secara presisi.</a:t>
            </a:r>
            <a:endParaRPr sz="1050" b="0" i="0" u="none" dirty="0">
              <a:solidFill>
                <a:srgbClr val="F1F5F9"/>
              </a:solidFill>
              <a:latin typeface="Fira Code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0600" y="3499955"/>
            <a:ext cx="5913120" cy="2601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050" dirty="0">
                <a:solidFill>
                  <a:srgbClr val="F59E0B"/>
                </a:solidFill>
                <a:latin typeface="Fira Code"/>
              </a:rPr>
              <a:t>### FORMAT JSON OUTPUT:</a:t>
            </a:r>
          </a:p>
          <a:p>
            <a:pPr>
              <a:lnSpc>
                <a:spcPts val="1679"/>
              </a:lnSpc>
            </a:pPr>
            <a:r>
              <a:rPr lang="en-US" sz="1050" dirty="0">
                <a:solidFill>
                  <a:srgbClr val="F59E0B"/>
                </a:solidFill>
                <a:latin typeface="Fira Code"/>
              </a:rPr>
              <a:t>{  </a:t>
            </a:r>
          </a:p>
          <a:p>
            <a:pPr>
              <a:lnSpc>
                <a:spcPts val="1679"/>
              </a:lnSpc>
            </a:pPr>
            <a:r>
              <a:rPr lang="en-US" sz="1050" dirty="0">
                <a:solidFill>
                  <a:srgbClr val="F59E0B"/>
                </a:solidFill>
                <a:latin typeface="Fira Code"/>
              </a:rPr>
              <a:t>	"date": "YYYY-MM-DD",  </a:t>
            </a:r>
          </a:p>
          <a:p>
            <a:pPr>
              <a:lnSpc>
                <a:spcPts val="1679"/>
              </a:lnSpc>
            </a:pPr>
            <a:r>
              <a:rPr lang="en-US" sz="1050" dirty="0">
                <a:solidFill>
                  <a:srgbClr val="F59E0B"/>
                </a:solidFill>
                <a:latin typeface="Fira Code"/>
              </a:rPr>
              <a:t>	"type": "income | expense",  </a:t>
            </a:r>
          </a:p>
          <a:p>
            <a:pPr>
              <a:lnSpc>
                <a:spcPts val="1679"/>
              </a:lnSpc>
            </a:pPr>
            <a:r>
              <a:rPr lang="en-US" sz="1050" dirty="0">
                <a:solidFill>
                  <a:srgbClr val="F59E0B"/>
                </a:solidFill>
                <a:latin typeface="Fira Code"/>
              </a:rPr>
              <a:t>	"status": "paid | unpaid",  </a:t>
            </a:r>
          </a:p>
          <a:p>
            <a:pPr>
              <a:lnSpc>
                <a:spcPts val="1679"/>
              </a:lnSpc>
            </a:pPr>
            <a:r>
              <a:rPr lang="en-US" sz="1050" dirty="0">
                <a:solidFill>
                  <a:srgbClr val="F59E0B"/>
                </a:solidFill>
                <a:latin typeface="Fira Code"/>
              </a:rPr>
              <a:t>	"sender": "string",  </a:t>
            </a:r>
          </a:p>
          <a:p>
            <a:pPr>
              <a:lnSpc>
                <a:spcPts val="1679"/>
              </a:lnSpc>
            </a:pPr>
            <a:r>
              <a:rPr lang="en-US" sz="1050" dirty="0">
                <a:solidFill>
                  <a:srgbClr val="F59E0B"/>
                </a:solidFill>
                <a:latin typeface="Fira Code"/>
              </a:rPr>
              <a:t>	"description": "string",  </a:t>
            </a:r>
          </a:p>
          <a:p>
            <a:pPr>
              <a:lnSpc>
                <a:spcPts val="1679"/>
              </a:lnSpc>
            </a:pPr>
            <a:r>
              <a:rPr lang="en-US" sz="1050" dirty="0">
                <a:solidFill>
                  <a:srgbClr val="F59E0B"/>
                </a:solidFill>
                <a:latin typeface="Fira Code"/>
              </a:rPr>
              <a:t>	"</a:t>
            </a:r>
            <a:r>
              <a:rPr lang="en-US" sz="1050" dirty="0" err="1">
                <a:solidFill>
                  <a:srgbClr val="F59E0B"/>
                </a:solidFill>
                <a:latin typeface="Fira Code"/>
              </a:rPr>
              <a:t>invoice_number</a:t>
            </a:r>
            <a:r>
              <a:rPr lang="en-US" sz="1050" dirty="0">
                <a:solidFill>
                  <a:srgbClr val="F59E0B"/>
                </a:solidFill>
                <a:latin typeface="Fira Code"/>
              </a:rPr>
              <a:t>": "string",  </a:t>
            </a:r>
          </a:p>
          <a:p>
            <a:pPr>
              <a:lnSpc>
                <a:spcPts val="1679"/>
              </a:lnSpc>
            </a:pPr>
            <a:r>
              <a:rPr lang="en-US" sz="1050" dirty="0">
                <a:solidFill>
                  <a:srgbClr val="F59E0B"/>
                </a:solidFill>
                <a:latin typeface="Fira Code"/>
              </a:rPr>
              <a:t>	"amount": "number",  </a:t>
            </a:r>
          </a:p>
          <a:p>
            <a:pPr>
              <a:lnSpc>
                <a:spcPts val="1679"/>
              </a:lnSpc>
            </a:pPr>
            <a:r>
              <a:rPr lang="en-US" sz="1050" dirty="0">
                <a:solidFill>
                  <a:srgbClr val="F59E0B"/>
                </a:solidFill>
                <a:latin typeface="Fira Code"/>
              </a:rPr>
              <a:t>	"</a:t>
            </a:r>
            <a:r>
              <a:rPr lang="en-US" sz="1050" dirty="0" err="1">
                <a:solidFill>
                  <a:srgbClr val="F59E0B"/>
                </a:solidFill>
                <a:latin typeface="Fira Code"/>
              </a:rPr>
              <a:t>due_date</a:t>
            </a:r>
            <a:r>
              <a:rPr lang="en-US" sz="1050" dirty="0">
                <a:solidFill>
                  <a:srgbClr val="F59E0B"/>
                </a:solidFill>
                <a:latin typeface="Fira Code"/>
              </a:rPr>
              <a:t>": "YYYY-MM-DD",  </a:t>
            </a:r>
          </a:p>
          <a:p>
            <a:pPr>
              <a:lnSpc>
                <a:spcPts val="1679"/>
              </a:lnSpc>
            </a:pPr>
            <a:r>
              <a:rPr lang="en-US" sz="1050" dirty="0">
                <a:solidFill>
                  <a:srgbClr val="F59E0B"/>
                </a:solidFill>
                <a:latin typeface="Fira Code"/>
              </a:rPr>
              <a:t>	"</a:t>
            </a:r>
            <a:r>
              <a:rPr lang="en-US" sz="1050" dirty="0" err="1">
                <a:solidFill>
                  <a:srgbClr val="F59E0B"/>
                </a:solidFill>
                <a:latin typeface="Fira Code"/>
              </a:rPr>
              <a:t>email_id</a:t>
            </a:r>
            <a:r>
              <a:rPr lang="en-US" sz="1050" dirty="0">
                <a:solidFill>
                  <a:srgbClr val="F59E0B"/>
                </a:solidFill>
                <a:latin typeface="Fira Code"/>
              </a:rPr>
              <a:t>": "string“</a:t>
            </a:r>
          </a:p>
          <a:p>
            <a:pPr>
              <a:lnSpc>
                <a:spcPts val="1679"/>
              </a:lnSpc>
            </a:pPr>
            <a:r>
              <a:rPr lang="en-US" sz="1050" dirty="0">
                <a:solidFill>
                  <a:srgbClr val="F59E0B"/>
                </a:solidFill>
                <a:latin typeface="Fira Code"/>
              </a:rPr>
              <a:t>}</a:t>
            </a:r>
            <a:endParaRPr sz="1050" b="0" i="0" u="none" dirty="0">
              <a:solidFill>
                <a:srgbClr val="F59E0B"/>
              </a:solidFill>
              <a:latin typeface="Fira Code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67625" y="2481262"/>
            <a:ext cx="227902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Plus Jakarta Sans"/>
              </a:rPr>
              <a:t>1. </a:t>
            </a:r>
            <a:r>
              <a:rPr lang="en-US" sz="1200" b="1" i="0" u="none" dirty="0">
                <a:solidFill>
                  <a:srgbClr val="0F172A"/>
                </a:solidFill>
                <a:latin typeface="Plus Jakarta Sans"/>
              </a:rPr>
              <a:t>Role Persona (</a:t>
            </a:r>
            <a:r>
              <a:rPr lang="en-US" sz="1200" b="1" i="0" u="none" dirty="0" err="1">
                <a:solidFill>
                  <a:srgbClr val="0F172A"/>
                </a:solidFill>
                <a:latin typeface="Plus Jakarta Sans"/>
              </a:rPr>
              <a:t>Mendefinisikan</a:t>
            </a:r>
            <a:r>
              <a:rPr lang="en-US" sz="1200" b="1" i="0" u="none" dirty="0">
                <a:solidFill>
                  <a:srgbClr val="0F172A"/>
                </a:solidFill>
                <a:latin typeface="Plus Jakarta Sans"/>
              </a:rPr>
              <a:t> AI)</a:t>
            </a:r>
            <a:endParaRPr sz="12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31074" y="2710204"/>
            <a:ext cx="3494151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nn-NO" sz="1050" b="0" i="0" u="none" dirty="0">
                <a:solidFill>
                  <a:srgbClr val="64748B"/>
                </a:solidFill>
                <a:latin typeface="Plus Jakarta Sans"/>
              </a:rPr>
              <a:t>Memberikan konteks dan batasan peran spesifik agar AI fokus hanya pada tugas ekstraksi data dari email, bukan menjawab hal di luar konteks</a:t>
            </a:r>
            <a:endParaRPr sz="105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67625" y="3614737"/>
            <a:ext cx="162474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Plus Jakarta Sans"/>
              </a:rPr>
              <a:t>2. </a:t>
            </a:r>
            <a:r>
              <a:rPr lang="en-US" sz="1200" b="1" i="0" u="none" dirty="0" err="1">
                <a:solidFill>
                  <a:srgbClr val="0F172A"/>
                </a:solidFill>
                <a:latin typeface="Plus Jakarta Sans"/>
              </a:rPr>
              <a:t>Instruksi</a:t>
            </a:r>
            <a:r>
              <a:rPr lang="en-US" sz="12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lang="en-US" sz="1200" b="1" i="0" u="none" dirty="0" err="1">
                <a:solidFill>
                  <a:srgbClr val="0F172A"/>
                </a:solidFill>
                <a:latin typeface="Plus Jakarta Sans"/>
              </a:rPr>
              <a:t>Tugas</a:t>
            </a:r>
            <a:r>
              <a:rPr lang="en-US" sz="12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lang="en-US" sz="1200" b="1" i="0" u="none" dirty="0" err="1">
                <a:solidFill>
                  <a:srgbClr val="0F172A"/>
                </a:solidFill>
                <a:latin typeface="Plus Jakarta Sans"/>
              </a:rPr>
              <a:t>Spesifik</a:t>
            </a:r>
            <a:endParaRPr sz="12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67625" y="4748212"/>
            <a:ext cx="135107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 i="0" u="none" dirty="0">
                <a:solidFill>
                  <a:srgbClr val="0F172A"/>
                </a:solidFill>
                <a:latin typeface="Plus Jakarta Sans"/>
              </a:rPr>
              <a:t>3. </a:t>
            </a:r>
            <a:r>
              <a:rPr lang="en-US" sz="1200" b="1" dirty="0">
                <a:solidFill>
                  <a:srgbClr val="0F172A"/>
                </a:solidFill>
                <a:latin typeface="Plus Jakarta Sans"/>
              </a:rPr>
              <a:t>Output JSON </a:t>
            </a:r>
            <a:r>
              <a:rPr lang="en-US" sz="1200" b="1" dirty="0" err="1">
                <a:solidFill>
                  <a:srgbClr val="0F172A"/>
                </a:solidFill>
                <a:latin typeface="Plus Jakarta Sans"/>
              </a:rPr>
              <a:t>Ketat</a:t>
            </a:r>
            <a:endParaRPr sz="12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B7BEAD-552F-4E4B-B56E-A052350171B1}"/>
              </a:ext>
            </a:extLst>
          </p:cNvPr>
          <p:cNvSpPr txBox="1"/>
          <p:nvPr/>
        </p:nvSpPr>
        <p:spPr>
          <a:xfrm>
            <a:off x="7831073" y="3852862"/>
            <a:ext cx="3494151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nn-NO" sz="1050" b="0" i="0" u="none" dirty="0">
                <a:solidFill>
                  <a:srgbClr val="64748B"/>
                </a:solidFill>
                <a:latin typeface="Plus Jakarta Sans"/>
              </a:rPr>
              <a:t>Mengunci alur kerja AI agar membaca teks e-mail lalu mengekstrak poin penting tanpa menambahkan interpretasi atau tulisan yang tidak perlu.</a:t>
            </a:r>
            <a:endParaRPr sz="105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181684-CBF4-254F-4A18-BEBAB48A7DB7}"/>
              </a:ext>
            </a:extLst>
          </p:cNvPr>
          <p:cNvSpPr txBox="1"/>
          <p:nvPr/>
        </p:nvSpPr>
        <p:spPr>
          <a:xfrm>
            <a:off x="7831074" y="4971320"/>
            <a:ext cx="3494151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50" dirty="0">
                <a:solidFill>
                  <a:srgbClr val="64748B"/>
                </a:solidFill>
                <a:latin typeface="Plus Jakarta Sans"/>
              </a:rPr>
              <a:t>Mencegah komentar tambahan AI agar node n8n dapat membaca data secara langsung.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726248" y="2322014"/>
            <a:ext cx="3490173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473" y="2988764"/>
            <a:ext cx="133893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473" y="3626939"/>
            <a:ext cx="133893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533400"/>
            <a:ext cx="10763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05. Visual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790575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Trigger Input: Email Masuk Mentah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2473" y="2598239"/>
            <a:ext cx="3869537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Karakteristik 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8224" y="2969714"/>
            <a:ext cx="354448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Email 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8223" y="3150689"/>
            <a:ext cx="2657145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 err="1">
                <a:solidFill>
                  <a:srgbClr val="64748B"/>
                </a:solidFill>
                <a:latin typeface="Plus Jakarta Sans"/>
              </a:rPr>
              <a:t>Menyaring</a:t>
            </a:r>
            <a:r>
              <a:rPr sz="97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64748B"/>
                </a:solidFill>
                <a:latin typeface="Plus Jakarta Sans"/>
              </a:rPr>
              <a:t>subjek</a:t>
            </a:r>
            <a:r>
              <a:rPr sz="97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lang="en-US" sz="975" b="0" i="0" u="none" dirty="0">
                <a:solidFill>
                  <a:srgbClr val="64748B"/>
                </a:solidFill>
                <a:latin typeface="Plus Jakarta Sans"/>
              </a:rPr>
              <a:t>yang </a:t>
            </a:r>
            <a:r>
              <a:rPr lang="en-US" sz="975" b="0" i="0" u="none" dirty="0" err="1">
                <a:solidFill>
                  <a:srgbClr val="64748B"/>
                </a:solidFill>
                <a:latin typeface="Plus Jakarta Sans"/>
              </a:rPr>
              <a:t>mempunyai</a:t>
            </a:r>
            <a:r>
              <a:rPr lang="en-US" sz="975" b="0" i="0" u="none" dirty="0">
                <a:solidFill>
                  <a:srgbClr val="64748B"/>
                </a:solidFill>
                <a:latin typeface="Plus Jakarta Sans"/>
              </a:rPr>
              <a:t> kata </a:t>
            </a:r>
            <a:r>
              <a:rPr lang="en-US" sz="975" b="0" i="0" u="none" dirty="0" err="1">
                <a:solidFill>
                  <a:srgbClr val="64748B"/>
                </a:solidFill>
                <a:latin typeface="Plus Jakarta Sans"/>
              </a:rPr>
              <a:t>kunci</a:t>
            </a:r>
            <a:r>
              <a:rPr sz="975" b="0" i="0" u="none" dirty="0">
                <a:solidFill>
                  <a:srgbClr val="64748B"/>
                </a:solidFill>
                <a:latin typeface="Plus Jakarta Sans"/>
              </a:rPr>
              <a:t> "Invoice", "</a:t>
            </a:r>
            <a:r>
              <a:rPr sz="975" b="0" i="0" u="none" dirty="0" err="1">
                <a:solidFill>
                  <a:srgbClr val="64748B"/>
                </a:solidFill>
                <a:latin typeface="Plus Jakarta Sans"/>
              </a:rPr>
              <a:t>Pembayaran</a:t>
            </a:r>
            <a:r>
              <a:rPr sz="975" b="0" i="0" u="none" dirty="0">
                <a:solidFill>
                  <a:srgbClr val="64748B"/>
                </a:solidFill>
                <a:latin typeface="Plus Jakarta Sans"/>
              </a:rPr>
              <a:t>", </a:t>
            </a:r>
            <a:r>
              <a:rPr sz="975" b="0" i="0" u="none" dirty="0" err="1">
                <a:solidFill>
                  <a:srgbClr val="64748B"/>
                </a:solidFill>
                <a:latin typeface="Plus Jakarta Sans"/>
              </a:rPr>
              <a:t>atau</a:t>
            </a:r>
            <a:r>
              <a:rPr sz="975" b="0" i="0" u="none" dirty="0">
                <a:solidFill>
                  <a:srgbClr val="64748B"/>
                </a:solidFill>
                <a:latin typeface="Plus Jakarta Sans"/>
              </a:rPr>
              <a:t> "</a:t>
            </a:r>
            <a:r>
              <a:rPr lang="en-US" sz="975" b="0" i="0" u="none" dirty="0" err="1">
                <a:solidFill>
                  <a:srgbClr val="64748B"/>
                </a:solidFill>
                <a:latin typeface="Plus Jakarta Sans"/>
              </a:rPr>
              <a:t>Tagihan</a:t>
            </a:r>
            <a:r>
              <a:rPr sz="975" b="0" i="0" u="none" dirty="0">
                <a:solidFill>
                  <a:srgbClr val="64748B"/>
                </a:solidFill>
                <a:latin typeface="Plus Jakarta Sans"/>
              </a:rPr>
              <a:t>".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223" y="3607889"/>
            <a:ext cx="3235753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Polling Real-time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8223" y="3788864"/>
            <a:ext cx="2657145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 err="1">
                <a:solidFill>
                  <a:srgbClr val="64748B"/>
                </a:solidFill>
                <a:latin typeface="Plus Jakarta Sans"/>
              </a:rPr>
              <a:t>Pemeriksaan</a:t>
            </a:r>
            <a:r>
              <a:rPr sz="97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64748B"/>
                </a:solidFill>
                <a:latin typeface="Plus Jakarta Sans"/>
              </a:rPr>
              <a:t>otomatis</a:t>
            </a:r>
            <a:r>
              <a:rPr sz="97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64748B"/>
                </a:solidFill>
                <a:latin typeface="Plus Jakarta Sans"/>
              </a:rPr>
              <a:t>setiap</a:t>
            </a:r>
            <a:r>
              <a:rPr sz="975" b="0" i="0" u="none" dirty="0">
                <a:solidFill>
                  <a:srgbClr val="64748B"/>
                </a:solidFill>
                <a:latin typeface="Plus Jakarta Sans"/>
              </a:rPr>
              <a:t> 5 </a:t>
            </a:r>
            <a:r>
              <a:rPr sz="975" b="0" i="0" u="none" dirty="0" err="1">
                <a:solidFill>
                  <a:srgbClr val="64748B"/>
                </a:solidFill>
                <a:latin typeface="Plus Jakarta Sans"/>
              </a:rPr>
              <a:t>menit</a:t>
            </a:r>
            <a:r>
              <a:rPr sz="975" b="0" i="0" u="none" dirty="0">
                <a:solidFill>
                  <a:srgbClr val="64748B"/>
                </a:solidFill>
                <a:latin typeface="Plus Jakarta Sans"/>
              </a:rPr>
              <a:t> via n8n Gmail Node.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E3CEE10-D746-59F2-B8D5-F23B39003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578473"/>
            <a:ext cx="6674830" cy="101976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B56374-9E5F-A0D1-BF91-402F7A6695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857544"/>
            <a:ext cx="6619521" cy="24689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762000" y="533400"/>
            <a:ext cx="10763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06. Visual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790575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Hasil Akhir: Spreadsheet &amp; Telegram Alert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9FFBE93-36D4-9D8D-294A-242AF6D29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76375"/>
            <a:ext cx="10763250" cy="112451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8D4EA07-B31E-7CB7-0E4E-7B7339FEB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930550"/>
            <a:ext cx="10763250" cy="136078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55EF420-D177-B872-0994-D0A7B234F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620994"/>
            <a:ext cx="3487438" cy="19888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5791200"/>
            <a:ext cx="10668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5791200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" y="609600"/>
            <a:ext cx="119584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0B981"/>
                </a:solidFill>
                <a:latin typeface="Plus Jakarta Sans"/>
              </a:rPr>
              <a:t>07. </a:t>
            </a:r>
            <a:r>
              <a:rPr lang="en-US" sz="1050" b="1" i="0" u="none" dirty="0">
                <a:solidFill>
                  <a:srgbClr val="10B981"/>
                </a:solidFill>
                <a:latin typeface="Plus Jakarta Sans"/>
              </a:rPr>
              <a:t>System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33450"/>
            <a:ext cx="8101012" cy="4964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300" b="1" dirty="0">
                <a:solidFill>
                  <a:srgbClr val="FFFFFF"/>
                </a:solidFill>
                <a:latin typeface="Plus Jakarta Sans"/>
              </a:rPr>
              <a:t>N8N Workflow</a:t>
            </a:r>
            <a:endParaRPr sz="33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2000" y="6029325"/>
            <a:ext cx="96391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FFFFFF"/>
                </a:solidFill>
                <a:latin typeface="Plus Jakarta Sans"/>
              </a:rPr>
              <a:t>Terima</a:t>
            </a:r>
            <a:r>
              <a:rPr sz="1350" b="1" i="0" u="none" dirty="0">
                <a:solidFill>
                  <a:srgbClr val="FFFFFF"/>
                </a:solidFill>
                <a:latin typeface="Plus Jakarta Sans"/>
              </a:rPr>
              <a:t> Kasih!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7825" y="6053137"/>
            <a:ext cx="27027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Plus Jakarta Sans"/>
              </a:rPr>
              <a:t>n8n Cashflow Automation System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2F551F6-5632-25CB-AD18-EDD977256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50289"/>
            <a:ext cx="10668000" cy="37204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598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Fira Code</vt:lpstr>
      <vt:lpstr>Plus Jakarta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Ralief</dc:creator>
  <cp:keywords/>
  <dc:description>generated using python-pptx</dc:description>
  <cp:lastModifiedBy>RALIEF LANGGA RIVANSYAH</cp:lastModifiedBy>
  <cp:revision>2</cp:revision>
  <dcterms:created xsi:type="dcterms:W3CDTF">2013-01-27T09:14:16Z</dcterms:created>
  <dcterms:modified xsi:type="dcterms:W3CDTF">2026-10-01T13:42:09Z</dcterms:modified>
  <cp:category/>
</cp:coreProperties>
</file>